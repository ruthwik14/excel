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9" r:id="rId3"/>
    <p:sldId id="262" r:id="rId4"/>
    <p:sldId id="264" r:id="rId5"/>
    <p:sldId id="265" r:id="rId6"/>
    <p:sldId id="26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581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I%20RAM\Downloads\Call_Center_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I%20RAM\Downloads\Call_Center_da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I%20RAM\Downloads\Call_Center_dat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I%20RAM\Downloads\Call_Center_dat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[Call_Center_data.xlsx]KPI!PivotTable8</c:name>
    <c:fmtId val="13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KPI!$I$3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KPI!$H$4:$H$9</c:f>
              <c:strCache>
                <c:ptCount val="5"/>
                <c:pt idx="0">
                  <c:v>Negative</c:v>
                </c:pt>
                <c:pt idx="1">
                  <c:v>Neutral</c:v>
                </c:pt>
                <c:pt idx="2">
                  <c:v>Positive</c:v>
                </c:pt>
                <c:pt idx="3">
                  <c:v>Very Negative</c:v>
                </c:pt>
                <c:pt idx="4">
                  <c:v>Very Positive</c:v>
                </c:pt>
              </c:strCache>
            </c:strRef>
          </c:cat>
          <c:val>
            <c:numRef>
              <c:f>KPI!$I$4:$I$9</c:f>
              <c:numCache>
                <c:formatCode>General</c:formatCode>
                <c:ptCount val="5"/>
                <c:pt idx="0">
                  <c:v>11063</c:v>
                </c:pt>
                <c:pt idx="1">
                  <c:v>8754</c:v>
                </c:pt>
                <c:pt idx="2">
                  <c:v>3928</c:v>
                </c:pt>
                <c:pt idx="3">
                  <c:v>6026</c:v>
                </c:pt>
                <c:pt idx="4">
                  <c:v>3170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6F-4452-85C5-78B6BD94794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43448624"/>
        <c:axId val="1478437680"/>
      </c:barChart>
      <c:catAx>
        <c:axId val="1143448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8437680"/>
        <c:crosses val="autoZero"/>
        <c:auto val="1"/>
        <c:lblAlgn val="ctr"/>
        <c:lblOffset val="100"/>
        <c:noMultiLvlLbl val="0"/>
      </c:catAx>
      <c:valAx>
        <c:axId val="14784376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34486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[Call_Center_data.xlsx]KPI!PivotTable6</c:name>
    <c:fmtId val="11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</c:pivotFmt>
      <c:pivotFmt>
        <c:idx val="5"/>
      </c:pivotFmt>
      <c:pivotFmt>
        <c:idx val="6"/>
      </c:pivotFmt>
      <c:pivotFmt>
        <c:idx val="7"/>
        <c:dLbl>
          <c:idx val="0"/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</c:pivotFmt>
      <c:pivotFmt>
        <c:idx val="9"/>
      </c:pivotFmt>
      <c:pivotFmt>
        <c:idx val="10"/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1"/>
          <c:order val="0"/>
          <c:tx>
            <c:strRef>
              <c:f>KPI!$F$3</c:f>
              <c:strCache>
                <c:ptCount val="1"/>
                <c:pt idx="0">
                  <c:v>Total</c:v>
                </c:pt>
              </c:strCache>
            </c:strRef>
          </c:tx>
          <c:explosion val="33"/>
          <c:dPt>
            <c:idx val="0"/>
            <c:bubble3D val="0"/>
            <c:explosion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CD6-4D40-881C-2C1804809858}"/>
              </c:ext>
            </c:extLst>
          </c:dPt>
          <c:dPt>
            <c:idx val="1"/>
            <c:bubble3D val="0"/>
            <c:explosion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D6-4D40-881C-2C1804809858}"/>
              </c:ext>
            </c:extLst>
          </c:dPt>
          <c:dPt>
            <c:idx val="2"/>
            <c:bubble3D val="0"/>
            <c:explosion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CD6-4D40-881C-2C1804809858}"/>
              </c:ext>
            </c:extLst>
          </c:dPt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KPI!$E$4:$E$7</c:f>
              <c:strCache>
                <c:ptCount val="3"/>
                <c:pt idx="0">
                  <c:v>Above SLA</c:v>
                </c:pt>
                <c:pt idx="1">
                  <c:v>Below SLA</c:v>
                </c:pt>
                <c:pt idx="2">
                  <c:v>Within SLA</c:v>
                </c:pt>
              </c:strCache>
            </c:strRef>
          </c:cat>
          <c:val>
            <c:numRef>
              <c:f>KPI!$F$4:$F$7</c:f>
              <c:numCache>
                <c:formatCode>General</c:formatCode>
                <c:ptCount val="3"/>
                <c:pt idx="0">
                  <c:v>4168</c:v>
                </c:pt>
                <c:pt idx="1">
                  <c:v>8148</c:v>
                </c:pt>
                <c:pt idx="2">
                  <c:v>20625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CD6-4D40-881C-2C18048098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[Call_Center_data.xlsx]KPI!PivotTable9</c:name>
    <c:fmtId val="14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KPI!$F$12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KPI!$E$13:$E$16</c:f>
              <c:strCache>
                <c:ptCount val="3"/>
                <c:pt idx="0">
                  <c:v>Billing Question</c:v>
                </c:pt>
                <c:pt idx="1">
                  <c:v>Payments</c:v>
                </c:pt>
                <c:pt idx="2">
                  <c:v>Service Outage</c:v>
                </c:pt>
              </c:strCache>
            </c:strRef>
          </c:cat>
          <c:val>
            <c:numRef>
              <c:f>KPI!$F$13:$F$16</c:f>
              <c:numCache>
                <c:formatCode>General</c:formatCode>
                <c:ptCount val="3"/>
                <c:pt idx="0">
                  <c:v>23462</c:v>
                </c:pt>
                <c:pt idx="1">
                  <c:v>4749</c:v>
                </c:pt>
                <c:pt idx="2">
                  <c:v>4730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C1-4E8A-A5BF-55C24EB30BF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43421744"/>
        <c:axId val="1489794992"/>
      </c:barChart>
      <c:catAx>
        <c:axId val="1143421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9794992"/>
        <c:crosses val="autoZero"/>
        <c:auto val="1"/>
        <c:lblAlgn val="ctr"/>
        <c:lblOffset val="100"/>
        <c:noMultiLvlLbl val="0"/>
      </c:catAx>
      <c:valAx>
        <c:axId val="14897949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34217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[Call_Center_data.xlsx]KPI!PivotTable10</c:name>
    <c:fmtId val="28"/>
  </c:pivotSource>
  <c:chart>
    <c:autoTitleDeleted val="1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cked"/>
        <c:varyColors val="0"/>
        <c:ser>
          <c:idx val="0"/>
          <c:order val="0"/>
          <c:tx>
            <c:strRef>
              <c:f>KPI!$F$19:$F$20</c:f>
              <c:strCache>
                <c:ptCount val="1"/>
                <c:pt idx="0">
                  <c:v>Negative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KPI!$E$21:$E$52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KPI!$F$21:$F$52</c:f>
              <c:numCache>
                <c:formatCode>General</c:formatCode>
                <c:ptCount val="31"/>
                <c:pt idx="0">
                  <c:v>349</c:v>
                </c:pt>
                <c:pt idx="1">
                  <c:v>361</c:v>
                </c:pt>
                <c:pt idx="2">
                  <c:v>368</c:v>
                </c:pt>
                <c:pt idx="3">
                  <c:v>346</c:v>
                </c:pt>
                <c:pt idx="4">
                  <c:v>373</c:v>
                </c:pt>
                <c:pt idx="5">
                  <c:v>375</c:v>
                </c:pt>
                <c:pt idx="6">
                  <c:v>355</c:v>
                </c:pt>
                <c:pt idx="7">
                  <c:v>362</c:v>
                </c:pt>
                <c:pt idx="8">
                  <c:v>373</c:v>
                </c:pt>
                <c:pt idx="9">
                  <c:v>400</c:v>
                </c:pt>
                <c:pt idx="10">
                  <c:v>347</c:v>
                </c:pt>
                <c:pt idx="11">
                  <c:v>363</c:v>
                </c:pt>
                <c:pt idx="12">
                  <c:v>388</c:v>
                </c:pt>
                <c:pt idx="13">
                  <c:v>357</c:v>
                </c:pt>
                <c:pt idx="14">
                  <c:v>363</c:v>
                </c:pt>
                <c:pt idx="15">
                  <c:v>377</c:v>
                </c:pt>
                <c:pt idx="16">
                  <c:v>380</c:v>
                </c:pt>
                <c:pt idx="17">
                  <c:v>381</c:v>
                </c:pt>
                <c:pt idx="18">
                  <c:v>376</c:v>
                </c:pt>
                <c:pt idx="19">
                  <c:v>377</c:v>
                </c:pt>
                <c:pt idx="20">
                  <c:v>375</c:v>
                </c:pt>
                <c:pt idx="21">
                  <c:v>391</c:v>
                </c:pt>
                <c:pt idx="22">
                  <c:v>391</c:v>
                </c:pt>
                <c:pt idx="23">
                  <c:v>363</c:v>
                </c:pt>
                <c:pt idx="24">
                  <c:v>356</c:v>
                </c:pt>
                <c:pt idx="25">
                  <c:v>352</c:v>
                </c:pt>
                <c:pt idx="26">
                  <c:v>353</c:v>
                </c:pt>
                <c:pt idx="27">
                  <c:v>377</c:v>
                </c:pt>
                <c:pt idx="28">
                  <c:v>367</c:v>
                </c:pt>
                <c:pt idx="29">
                  <c:v>367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C0F-412F-A3C3-D245C3396AF6}"/>
            </c:ext>
          </c:extLst>
        </c:ser>
        <c:ser>
          <c:idx val="1"/>
          <c:order val="1"/>
          <c:tx>
            <c:strRef>
              <c:f>KPI!$G$19:$G$20</c:f>
              <c:strCache>
                <c:ptCount val="1"/>
                <c:pt idx="0">
                  <c:v>Neutral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KPI!$E$21:$E$52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KPI!$G$21:$G$52</c:f>
              <c:numCache>
                <c:formatCode>General</c:formatCode>
                <c:ptCount val="31"/>
                <c:pt idx="0">
                  <c:v>312</c:v>
                </c:pt>
                <c:pt idx="1">
                  <c:v>308</c:v>
                </c:pt>
                <c:pt idx="2">
                  <c:v>280</c:v>
                </c:pt>
                <c:pt idx="3">
                  <c:v>296</c:v>
                </c:pt>
                <c:pt idx="4">
                  <c:v>288</c:v>
                </c:pt>
                <c:pt idx="5">
                  <c:v>313</c:v>
                </c:pt>
                <c:pt idx="6">
                  <c:v>268</c:v>
                </c:pt>
                <c:pt idx="7">
                  <c:v>255</c:v>
                </c:pt>
                <c:pt idx="8">
                  <c:v>310</c:v>
                </c:pt>
                <c:pt idx="9">
                  <c:v>281</c:v>
                </c:pt>
                <c:pt idx="10">
                  <c:v>325</c:v>
                </c:pt>
                <c:pt idx="11">
                  <c:v>294</c:v>
                </c:pt>
                <c:pt idx="12">
                  <c:v>266</c:v>
                </c:pt>
                <c:pt idx="13">
                  <c:v>288</c:v>
                </c:pt>
                <c:pt idx="14">
                  <c:v>299</c:v>
                </c:pt>
                <c:pt idx="15">
                  <c:v>343</c:v>
                </c:pt>
                <c:pt idx="16">
                  <c:v>270</c:v>
                </c:pt>
                <c:pt idx="17">
                  <c:v>302</c:v>
                </c:pt>
                <c:pt idx="18">
                  <c:v>287</c:v>
                </c:pt>
                <c:pt idx="19">
                  <c:v>279</c:v>
                </c:pt>
                <c:pt idx="20">
                  <c:v>320</c:v>
                </c:pt>
                <c:pt idx="21">
                  <c:v>294</c:v>
                </c:pt>
                <c:pt idx="22">
                  <c:v>284</c:v>
                </c:pt>
                <c:pt idx="23">
                  <c:v>285</c:v>
                </c:pt>
                <c:pt idx="24">
                  <c:v>276</c:v>
                </c:pt>
                <c:pt idx="25">
                  <c:v>269</c:v>
                </c:pt>
                <c:pt idx="26">
                  <c:v>280</c:v>
                </c:pt>
                <c:pt idx="27">
                  <c:v>321</c:v>
                </c:pt>
                <c:pt idx="28">
                  <c:v>258</c:v>
                </c:pt>
                <c:pt idx="29">
                  <c:v>303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C0F-412F-A3C3-D245C3396AF6}"/>
            </c:ext>
          </c:extLst>
        </c:ser>
        <c:ser>
          <c:idx val="2"/>
          <c:order val="2"/>
          <c:tx>
            <c:strRef>
              <c:f>KPI!$H$19:$H$20</c:f>
              <c:strCache>
                <c:ptCount val="1"/>
                <c:pt idx="0">
                  <c:v>Positive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KPI!$E$21:$E$52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KPI!$H$21:$H$52</c:f>
              <c:numCache>
                <c:formatCode>General</c:formatCode>
                <c:ptCount val="31"/>
                <c:pt idx="0">
                  <c:v>124</c:v>
                </c:pt>
                <c:pt idx="1">
                  <c:v>137</c:v>
                </c:pt>
                <c:pt idx="2">
                  <c:v>138</c:v>
                </c:pt>
                <c:pt idx="3">
                  <c:v>109</c:v>
                </c:pt>
                <c:pt idx="4">
                  <c:v>125</c:v>
                </c:pt>
                <c:pt idx="5">
                  <c:v>156</c:v>
                </c:pt>
                <c:pt idx="6">
                  <c:v>125</c:v>
                </c:pt>
                <c:pt idx="7">
                  <c:v>139</c:v>
                </c:pt>
                <c:pt idx="8">
                  <c:v>131</c:v>
                </c:pt>
                <c:pt idx="9">
                  <c:v>146</c:v>
                </c:pt>
                <c:pt idx="10">
                  <c:v>128</c:v>
                </c:pt>
                <c:pt idx="11">
                  <c:v>132</c:v>
                </c:pt>
                <c:pt idx="12">
                  <c:v>133</c:v>
                </c:pt>
                <c:pt idx="13">
                  <c:v>131</c:v>
                </c:pt>
                <c:pt idx="14">
                  <c:v>116</c:v>
                </c:pt>
                <c:pt idx="15">
                  <c:v>128</c:v>
                </c:pt>
                <c:pt idx="16">
                  <c:v>118</c:v>
                </c:pt>
                <c:pt idx="17">
                  <c:v>121</c:v>
                </c:pt>
                <c:pt idx="18">
                  <c:v>125</c:v>
                </c:pt>
                <c:pt idx="19">
                  <c:v>117</c:v>
                </c:pt>
                <c:pt idx="20">
                  <c:v>167</c:v>
                </c:pt>
                <c:pt idx="21">
                  <c:v>144</c:v>
                </c:pt>
                <c:pt idx="22">
                  <c:v>131</c:v>
                </c:pt>
                <c:pt idx="23">
                  <c:v>119</c:v>
                </c:pt>
                <c:pt idx="24">
                  <c:v>139</c:v>
                </c:pt>
                <c:pt idx="25">
                  <c:v>120</c:v>
                </c:pt>
                <c:pt idx="26">
                  <c:v>131</c:v>
                </c:pt>
                <c:pt idx="27">
                  <c:v>138</c:v>
                </c:pt>
                <c:pt idx="28">
                  <c:v>127</c:v>
                </c:pt>
                <c:pt idx="29">
                  <c:v>133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C0F-412F-A3C3-D245C3396AF6}"/>
            </c:ext>
          </c:extLst>
        </c:ser>
        <c:ser>
          <c:idx val="3"/>
          <c:order val="3"/>
          <c:tx>
            <c:strRef>
              <c:f>KPI!$I$19:$I$20</c:f>
              <c:strCache>
                <c:ptCount val="1"/>
                <c:pt idx="0">
                  <c:v>Very Negative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KPI!$E$21:$E$52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KPI!$I$21:$I$52</c:f>
              <c:numCache>
                <c:formatCode>General</c:formatCode>
                <c:ptCount val="31"/>
                <c:pt idx="0">
                  <c:v>203</c:v>
                </c:pt>
                <c:pt idx="1">
                  <c:v>192</c:v>
                </c:pt>
                <c:pt idx="2">
                  <c:v>201</c:v>
                </c:pt>
                <c:pt idx="3">
                  <c:v>187</c:v>
                </c:pt>
                <c:pt idx="4">
                  <c:v>192</c:v>
                </c:pt>
                <c:pt idx="5">
                  <c:v>190</c:v>
                </c:pt>
                <c:pt idx="6">
                  <c:v>196</c:v>
                </c:pt>
                <c:pt idx="7">
                  <c:v>215</c:v>
                </c:pt>
                <c:pt idx="8">
                  <c:v>205</c:v>
                </c:pt>
                <c:pt idx="9">
                  <c:v>174</c:v>
                </c:pt>
                <c:pt idx="10">
                  <c:v>191</c:v>
                </c:pt>
                <c:pt idx="11">
                  <c:v>186</c:v>
                </c:pt>
                <c:pt idx="12">
                  <c:v>209</c:v>
                </c:pt>
                <c:pt idx="13">
                  <c:v>193</c:v>
                </c:pt>
                <c:pt idx="14">
                  <c:v>214</c:v>
                </c:pt>
                <c:pt idx="15">
                  <c:v>186</c:v>
                </c:pt>
                <c:pt idx="16">
                  <c:v>233</c:v>
                </c:pt>
                <c:pt idx="17">
                  <c:v>186</c:v>
                </c:pt>
                <c:pt idx="18">
                  <c:v>212</c:v>
                </c:pt>
                <c:pt idx="19">
                  <c:v>198</c:v>
                </c:pt>
                <c:pt idx="20">
                  <c:v>188</c:v>
                </c:pt>
                <c:pt idx="21">
                  <c:v>220</c:v>
                </c:pt>
                <c:pt idx="22">
                  <c:v>200</c:v>
                </c:pt>
                <c:pt idx="23">
                  <c:v>214</c:v>
                </c:pt>
                <c:pt idx="24">
                  <c:v>200</c:v>
                </c:pt>
                <c:pt idx="25">
                  <c:v>219</c:v>
                </c:pt>
                <c:pt idx="26">
                  <c:v>203</c:v>
                </c:pt>
                <c:pt idx="27">
                  <c:v>219</c:v>
                </c:pt>
                <c:pt idx="28">
                  <c:v>189</c:v>
                </c:pt>
                <c:pt idx="29">
                  <c:v>211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C0F-412F-A3C3-D245C3396AF6}"/>
            </c:ext>
          </c:extLst>
        </c:ser>
        <c:ser>
          <c:idx val="4"/>
          <c:order val="4"/>
          <c:tx>
            <c:strRef>
              <c:f>KPI!$J$19:$J$20</c:f>
              <c:strCache>
                <c:ptCount val="1"/>
                <c:pt idx="0">
                  <c:v>Very Positive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KPI!$E$21:$E$52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KPI!$J$21:$J$52</c:f>
              <c:numCache>
                <c:formatCode>General</c:formatCode>
                <c:ptCount val="31"/>
                <c:pt idx="0">
                  <c:v>101</c:v>
                </c:pt>
                <c:pt idx="1">
                  <c:v>86</c:v>
                </c:pt>
                <c:pt idx="2">
                  <c:v>102</c:v>
                </c:pt>
                <c:pt idx="3">
                  <c:v>111</c:v>
                </c:pt>
                <c:pt idx="4">
                  <c:v>112</c:v>
                </c:pt>
                <c:pt idx="5">
                  <c:v>118</c:v>
                </c:pt>
                <c:pt idx="6">
                  <c:v>101</c:v>
                </c:pt>
                <c:pt idx="7">
                  <c:v>96</c:v>
                </c:pt>
                <c:pt idx="8">
                  <c:v>104</c:v>
                </c:pt>
                <c:pt idx="9">
                  <c:v>91</c:v>
                </c:pt>
                <c:pt idx="10">
                  <c:v>96</c:v>
                </c:pt>
                <c:pt idx="11">
                  <c:v>113</c:v>
                </c:pt>
                <c:pt idx="12">
                  <c:v>121</c:v>
                </c:pt>
                <c:pt idx="13">
                  <c:v>121</c:v>
                </c:pt>
                <c:pt idx="14">
                  <c:v>113</c:v>
                </c:pt>
                <c:pt idx="15">
                  <c:v>98</c:v>
                </c:pt>
                <c:pt idx="16">
                  <c:v>122</c:v>
                </c:pt>
                <c:pt idx="17">
                  <c:v>107</c:v>
                </c:pt>
                <c:pt idx="18">
                  <c:v>102</c:v>
                </c:pt>
                <c:pt idx="19">
                  <c:v>106</c:v>
                </c:pt>
                <c:pt idx="20">
                  <c:v>120</c:v>
                </c:pt>
                <c:pt idx="21">
                  <c:v>118</c:v>
                </c:pt>
                <c:pt idx="22">
                  <c:v>105</c:v>
                </c:pt>
                <c:pt idx="23">
                  <c:v>117</c:v>
                </c:pt>
                <c:pt idx="24">
                  <c:v>92</c:v>
                </c:pt>
                <c:pt idx="25">
                  <c:v>94</c:v>
                </c:pt>
                <c:pt idx="26">
                  <c:v>95</c:v>
                </c:pt>
                <c:pt idx="27">
                  <c:v>89</c:v>
                </c:pt>
                <c:pt idx="28">
                  <c:v>112</c:v>
                </c:pt>
                <c:pt idx="29">
                  <c:v>106</c:v>
                </c:pt>
                <c:pt idx="3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C0F-412F-A3C3-D245C3396AF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565771104"/>
        <c:axId val="1489801440"/>
      </c:lineChart>
      <c:catAx>
        <c:axId val="1565771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9801440"/>
        <c:crosses val="autoZero"/>
        <c:auto val="1"/>
        <c:lblAlgn val="ctr"/>
        <c:lblOffset val="100"/>
        <c:noMultiLvlLbl val="0"/>
      </c:catAx>
      <c:valAx>
        <c:axId val="1489801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57711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AE389-3FC5-BAC6-A43E-6EB678FF59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A059FA-55A4-0921-4863-19983BD6F5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D6186-05C6-EC2C-5DA4-AA7406B26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AED95-251C-4EAF-AB04-33BB6C020E3D}" type="datetimeFigureOut">
              <a:rPr lang="en-IN" smtClean="0"/>
              <a:t>19-10-2023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2919A-547B-741F-11E1-E3411EC80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E3C51-653F-8D30-622D-F89752990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534A-4663-4851-9584-CD10426C1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729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23981-9B63-9552-21F8-D7738402B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A2834-3E5B-8B22-5E29-8603999A5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2BB1D-919D-2699-6D62-2A3E56AAA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AED95-251C-4EAF-AB04-33BB6C020E3D}" type="datetimeFigureOut">
              <a:rPr lang="en-IN" smtClean="0"/>
              <a:t>19-10-2023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6470F-3E6B-0190-C688-B7FCFA0E3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D9D8B-AFC7-5FAD-8CE2-F436B5C73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534A-4663-4851-9584-CD10426C1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922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3F641-CAC4-4777-1088-31239735D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596EC-EDFE-BA6D-BADB-9036220E4D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FE213-9C30-79E6-4424-10FA6B7DF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AED95-251C-4EAF-AB04-33BB6C020E3D}" type="datetimeFigureOut">
              <a:rPr lang="en-IN" smtClean="0"/>
              <a:t>19-10-2023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09419-49A0-0B45-3189-BD91655E5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DEFC2-DBD2-5EAE-9108-DD0C4D239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534A-4663-4851-9584-CD10426C1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2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CE37B-43E1-B17B-4E1D-92A1EAD79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7C4BD-F555-ED8C-DD42-2856BBC180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DEB6DD-7603-E276-D4AC-021FA6F16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42FA8D-1056-A05A-2B7B-E92F09133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AED95-251C-4EAF-AB04-33BB6C020E3D}" type="datetimeFigureOut">
              <a:rPr lang="en-IN" smtClean="0"/>
              <a:t>19-10-2023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BF84A-432E-CF9B-0077-A6FEF6963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BA86A-50A5-F6AE-4F39-CA83BF38C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534A-4663-4851-9584-CD10426C1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996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C5BBF-54D8-34E1-DC14-D510C600C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4876D-C0DB-D51F-850B-84D24F18F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591D34-5C93-7AFA-93B0-BDA21540D9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A5C88A-06F9-88B8-B3A5-AC5529425A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A9AC6C-FFB5-2F4C-5305-113A4A4500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16A37E-9B29-A1C2-8B16-21F9D0477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AED95-251C-4EAF-AB04-33BB6C020E3D}" type="datetimeFigureOut">
              <a:rPr lang="en-IN" smtClean="0"/>
              <a:t>19-10-2023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751936-BC3D-F0AA-4E9D-A98667A35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0E8427-6027-BF19-2339-C62CEAC1B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534A-4663-4851-9584-CD10426C1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402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2D4E7-E07E-5CD6-3F86-369B0F789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7C18D8-10CD-366F-58D0-2145B6A9D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AED95-251C-4EAF-AB04-33BB6C020E3D}" type="datetimeFigureOut">
              <a:rPr lang="en-IN" smtClean="0"/>
              <a:t>19-10-2023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F369D0-F538-2F30-83DE-596A8941A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1C00EC-1A0F-7A35-5C6D-293F63E50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534A-4663-4851-9584-CD10426C1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296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9B074C-996B-D246-A143-15EFDB759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AED95-251C-4EAF-AB04-33BB6C020E3D}" type="datetimeFigureOut">
              <a:rPr lang="en-IN" smtClean="0"/>
              <a:t>19-10-2023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406B79-6E53-6F43-4F37-69FE298D5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F0B24-FDC4-D132-0026-B4FF5F56B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534A-4663-4851-9584-CD10426C1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100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DBF65-3F58-030E-ADAA-E820F8C01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3B1DC-29F1-8B43-C696-68E8D6FD9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6B1A03-81E5-7FEE-9277-F2BF1629A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A7AE01-2CFB-231B-5A31-81F5C6EBE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AED95-251C-4EAF-AB04-33BB6C020E3D}" type="datetimeFigureOut">
              <a:rPr lang="en-IN" smtClean="0"/>
              <a:t>19-10-2023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5B80AA-4110-F4C5-7365-E2D2C1011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DC9652-9415-41A2-9625-595D2EE42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534A-4663-4851-9584-CD10426C1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299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9A4D6-9233-A09B-6B3C-9BC612149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CD848F-01F3-A105-EA7F-E042D206AF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65CF43-64F9-2062-9CBF-8EF2B766AF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C08477-6FFC-AAF8-4570-BA85E67D9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AED95-251C-4EAF-AB04-33BB6C020E3D}" type="datetimeFigureOut">
              <a:rPr lang="en-IN" smtClean="0"/>
              <a:t>19-10-2023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76D9FB-4D00-BAFF-058C-420A7B93B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F6067-7E0C-C1DD-2475-1DB26D57C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534A-4663-4851-9584-CD10426C1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956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06036-E242-8005-5534-4F6B8F9B7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3A764B-C22D-7D6E-D029-82E6CC02DB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8C081-C54A-FB69-EB03-3181B97DD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AED95-251C-4EAF-AB04-33BB6C020E3D}" type="datetimeFigureOut">
              <a:rPr lang="en-IN" smtClean="0"/>
              <a:t>19-10-2023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D0363-8BFB-ACFF-72A9-E2371749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244A0-8D2B-F00C-841E-E16C3567B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534A-4663-4851-9584-CD10426C1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406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9DC99A-2AB1-60BE-08BA-7DDED7DD43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A408F3-FFB3-AF55-ECE1-DE6E63996B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E5D25-3151-F458-3155-9B5EAF8FF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AED95-251C-4EAF-AB04-33BB6C020E3D}" type="datetimeFigureOut">
              <a:rPr lang="en-IN" smtClean="0"/>
              <a:t>19-10-2023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1801F-658A-76F3-5BBC-9641F4465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A6FDC-8619-F3C5-1894-EAB036928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534A-4663-4851-9584-CD10426C1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721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2016BC-70EC-C008-10AC-DDF4D4E07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30A0D8-5E8C-F681-3055-D44150EB0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1BC7F-D860-7593-DBF6-483BFB2D50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1AED95-251C-4EAF-AB04-33BB6C020E3D}" type="datetimeFigureOut">
              <a:rPr lang="en-IN" smtClean="0"/>
              <a:t>19-10-2023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BDDC0-20E6-95F4-63E2-CA54867D5A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91CCC-2FD7-1EDC-914B-CACD05F70E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44534A-4663-4851-9584-CD10426C1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8802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F2412-2142-7ABB-9922-BEBFA9707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499" y="1008668"/>
            <a:ext cx="11199044" cy="2743199"/>
          </a:xfrm>
        </p:spPr>
        <p:txBody>
          <a:bodyPr>
            <a:noAutofit/>
          </a:bodyPr>
          <a:lstStyle/>
          <a:p>
            <a:pPr algn="ctr"/>
            <a:r>
              <a:rPr lang="en-IN" sz="7200" b="1" i="0" u="none" strike="noStrike" baseline="0" dirty="0">
                <a:latin typeface="Algerian" panose="04020705040A02060702" pitchFamily="82" charset="0"/>
              </a:rPr>
              <a:t>Customer Service Data</a:t>
            </a:r>
            <a:br>
              <a:rPr lang="en-IN" sz="7200" b="1" i="0" u="none" strike="noStrike" baseline="0" dirty="0">
                <a:latin typeface="Calibri-Bold"/>
              </a:rPr>
            </a:br>
            <a:r>
              <a:rPr lang="en-IN" sz="2800" b="1" i="0" u="none" strike="noStrike" baseline="0" dirty="0">
                <a:latin typeface="Calibri-Bold"/>
              </a:rPr>
              <a:t>  </a:t>
            </a:r>
            <a:r>
              <a:rPr lang="en-IN" sz="2800" b="1" i="1" u="none" strike="noStrike" baseline="0" dirty="0" err="1">
                <a:latin typeface="Arial Black" panose="020B0A04020102020204" pitchFamily="34" charset="0"/>
              </a:rPr>
              <a:t>Ivision</a:t>
            </a:r>
            <a:r>
              <a:rPr lang="en-IN" sz="2800" b="1" i="1" u="none" strike="noStrike" baseline="0" dirty="0">
                <a:latin typeface="Arial Black" panose="020B0A04020102020204" pitchFamily="34" charset="0"/>
              </a:rPr>
              <a:t> </a:t>
            </a:r>
            <a:r>
              <a:rPr lang="en-IN" sz="2800" b="1" i="1" dirty="0">
                <a:latin typeface="Arial Black" panose="020B0A04020102020204" pitchFamily="34" charset="0"/>
              </a:rPr>
              <a:t>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AA325B-9452-1BDD-DA5B-543599FBE6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15846" y="4412619"/>
            <a:ext cx="4969697" cy="1436713"/>
          </a:xfrm>
        </p:spPr>
        <p:txBody>
          <a:bodyPr>
            <a:noAutofit/>
          </a:bodyPr>
          <a:lstStyle/>
          <a:p>
            <a:r>
              <a:rPr lang="en-IN" sz="3200" dirty="0"/>
              <a:t>BY:</a:t>
            </a:r>
          </a:p>
          <a:p>
            <a:r>
              <a:rPr lang="en-IN" sz="3200" dirty="0"/>
              <a:t>     DEVANAPALLI  RUTHWIK</a:t>
            </a:r>
          </a:p>
        </p:txBody>
      </p:sp>
    </p:spTree>
    <p:extLst>
      <p:ext uri="{BB962C8B-B14F-4D97-AF65-F5344CB8AC3E}">
        <p14:creationId xmlns:p14="http://schemas.microsoft.com/office/powerpoint/2010/main" val="663804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93BE9466-713D-0668-1507-15917BD404F1}"/>
              </a:ext>
            </a:extLst>
          </p:cNvPr>
          <p:cNvSpPr/>
          <p:nvPr/>
        </p:nvSpPr>
        <p:spPr>
          <a:xfrm>
            <a:off x="8294466" y="253137"/>
            <a:ext cx="2949135" cy="187043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tx1"/>
                </a:solidFill>
              </a:rPr>
              <a:t>Total inbound call</a:t>
            </a:r>
            <a:endParaRPr lang="en-IN" sz="1800" dirty="0">
              <a:solidFill>
                <a:schemeClr val="tx1"/>
              </a:solidFill>
            </a:endParaRPr>
          </a:p>
          <a:p>
            <a:pPr algn="ctr"/>
            <a:r>
              <a:rPr lang="en-IN" sz="3600" b="1" dirty="0">
                <a:solidFill>
                  <a:schemeClr val="tx1"/>
                </a:solidFill>
              </a:rPr>
              <a:t>32941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F02778-F19D-465A-9444-C87D29A982D6}"/>
              </a:ext>
            </a:extLst>
          </p:cNvPr>
          <p:cNvSpPr/>
          <p:nvPr/>
        </p:nvSpPr>
        <p:spPr>
          <a:xfrm>
            <a:off x="534250" y="2000914"/>
            <a:ext cx="2498317" cy="187043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Avg.</a:t>
            </a:r>
            <a:r>
              <a:rPr lang="en-IN" sz="1800" b="1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Handle Time in Minutes</a:t>
            </a:r>
            <a:endParaRPr lang="en-IN" sz="1800" dirty="0">
              <a:solidFill>
                <a:schemeClr val="tx1"/>
              </a:solidFill>
            </a:endParaRPr>
          </a:p>
          <a:p>
            <a:pPr algn="ctr"/>
            <a:r>
              <a:rPr lang="en-IN" sz="3600" b="1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B8CA2D3-C92F-42A4-8222-3A73D7E5A343}"/>
              </a:ext>
            </a:extLst>
          </p:cNvPr>
          <p:cNvSpPr/>
          <p:nvPr/>
        </p:nvSpPr>
        <p:spPr>
          <a:xfrm>
            <a:off x="8294466" y="2248537"/>
            <a:ext cx="2949135" cy="187043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 Call Volume in Hours</a:t>
            </a:r>
            <a:endParaRPr lang="en-IN" sz="1800" dirty="0">
              <a:solidFill>
                <a:schemeClr val="tx1"/>
              </a:solidFill>
            </a:endParaRPr>
          </a:p>
          <a:p>
            <a:pPr algn="ctr"/>
            <a:r>
              <a:rPr lang="en-IN" sz="3600" b="1" dirty="0">
                <a:solidFill>
                  <a:schemeClr val="tx1"/>
                </a:solidFill>
              </a:rPr>
              <a:t>13737</a:t>
            </a:r>
            <a:r>
              <a:rPr lang="en-IN" sz="18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8E53D35-6E0E-449E-AFE3-CD0098761C8C}"/>
              </a:ext>
            </a:extLst>
          </p:cNvPr>
          <p:cNvSpPr/>
          <p:nvPr/>
        </p:nvSpPr>
        <p:spPr>
          <a:xfrm>
            <a:off x="8294466" y="4243937"/>
            <a:ext cx="2949134" cy="187043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Avg. Satisfaction</a:t>
            </a:r>
            <a:r>
              <a:rPr lang="en-IN" sz="1800" b="1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Score</a:t>
            </a:r>
            <a:endParaRPr lang="en-IN" sz="1800" b="1" dirty="0">
              <a:solidFill>
                <a:schemeClr val="tx1"/>
              </a:solidFill>
              <a:effectLst/>
            </a:endParaRPr>
          </a:p>
          <a:p>
            <a:pPr algn="ctr"/>
            <a:r>
              <a:rPr lang="en-IN" sz="36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29685F-33EF-DDC0-5C22-94748A4B6A3B}"/>
              </a:ext>
            </a:extLst>
          </p:cNvPr>
          <p:cNvSpPr/>
          <p:nvPr/>
        </p:nvSpPr>
        <p:spPr>
          <a:xfrm>
            <a:off x="320289" y="265027"/>
            <a:ext cx="17515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gerian" panose="04020705040A02060702" pitchFamily="82" charset="0"/>
              </a:rPr>
              <a:t>KPI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778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64F09A3-499F-492E-AFDF-7DC263855B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6729922"/>
              </p:ext>
            </p:extLst>
          </p:nvPr>
        </p:nvGraphicFramePr>
        <p:xfrm>
          <a:off x="6699359" y="1339685"/>
          <a:ext cx="4419599" cy="40143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06892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D7A9A94-260E-CC77-F4D1-8FCA225327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545679"/>
              </p:ext>
            </p:extLst>
          </p:nvPr>
        </p:nvGraphicFramePr>
        <p:xfrm>
          <a:off x="7419372" y="856527"/>
          <a:ext cx="4146681" cy="4097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62944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315BBE9-CDAA-CB67-4E58-58CCB51EC9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1708091"/>
              </p:ext>
            </p:extLst>
          </p:nvPr>
        </p:nvGraphicFramePr>
        <p:xfrm>
          <a:off x="5806633" y="1475508"/>
          <a:ext cx="5181601" cy="39069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15959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4F83B24-7DC2-6A17-6129-8458C6051D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1420649"/>
              </p:ext>
            </p:extLst>
          </p:nvPr>
        </p:nvGraphicFramePr>
        <p:xfrm>
          <a:off x="4317357" y="1099595"/>
          <a:ext cx="7535119" cy="42363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0678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</TotalTime>
  <Words>38</Words>
  <Application>Microsoft Office PowerPoint</Application>
  <PresentationFormat>Widescreen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Algerian</vt:lpstr>
      <vt:lpstr>Arial</vt:lpstr>
      <vt:lpstr>Arial Black</vt:lpstr>
      <vt:lpstr>Calibri</vt:lpstr>
      <vt:lpstr>Calibri Light</vt:lpstr>
      <vt:lpstr>Calibri-Bold</vt:lpstr>
      <vt:lpstr>Office Theme</vt:lpstr>
      <vt:lpstr>Customer Service Data   Ivision analytics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Service Data   Ivision analytics</dc:title>
  <dc:creator>sai ram</dc:creator>
  <cp:lastModifiedBy>sai ram</cp:lastModifiedBy>
  <cp:revision>1</cp:revision>
  <dcterms:created xsi:type="dcterms:W3CDTF">2023-10-19T17:03:18Z</dcterms:created>
  <dcterms:modified xsi:type="dcterms:W3CDTF">2023-10-19T18:41:01Z</dcterms:modified>
</cp:coreProperties>
</file>